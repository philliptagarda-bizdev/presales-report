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Inter"/>
      <p:bold r:id="rId31"/>
      <p:boldItalic r:id="rId32"/>
    </p:embeddedFont>
    <p:embeddedFont>
      <p:font typeface="Bebas Neue"/>
      <p:regular r:id="rId33"/>
    </p:embeddedFont>
    <p:embeddedFont>
      <p:font typeface="Lato Light"/>
      <p:regular r:id="rId34"/>
      <p:bold r:id="rId35"/>
      <p:italic r:id="rId36"/>
      <p:boldItalic r:id="rId37"/>
    </p:embeddedFont>
    <p:embeddedFont>
      <p:font typeface="Montserrat ExtraBold"/>
      <p:bold r:id="rId38"/>
      <p:boldItalic r:id="rId39"/>
    </p:embeddedFont>
    <p:embeddedFont>
      <p:font typeface="Oswald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-regular.fntdata"/><Relationship Id="rId20" Type="http://schemas.openxmlformats.org/officeDocument/2006/relationships/slide" Target="slides/slide15.xml"/><Relationship Id="rId41" Type="http://schemas.openxmlformats.org/officeDocument/2006/relationships/font" Target="fonts/Oswal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33" Type="http://schemas.openxmlformats.org/officeDocument/2006/relationships/font" Target="fonts/BebasNeue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LatoLight-bold.fntdata"/><Relationship Id="rId12" Type="http://schemas.openxmlformats.org/officeDocument/2006/relationships/slide" Target="slides/slide7.xml"/><Relationship Id="rId34" Type="http://schemas.openxmlformats.org/officeDocument/2006/relationships/font" Target="fonts/LatoLight-regular.fntdata"/><Relationship Id="rId15" Type="http://schemas.openxmlformats.org/officeDocument/2006/relationships/slide" Target="slides/slide10.xml"/><Relationship Id="rId37" Type="http://schemas.openxmlformats.org/officeDocument/2006/relationships/font" Target="fonts/Lato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LatoLight-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JMsU674BD_LaOaDBQq1XPqbHV90kfjJY211snFybmtk/edit" TargetMode="External"/><Relationship Id="rId3" Type="http://schemas.openxmlformats.org/officeDocument/2006/relationships/hyperlink" Target="https://docs.google.com/presentation/d/1JMsU674BD_LaOaDBQq1XPqbHV90kfjJY211snFybmtk/edit" TargetMode="External"/><Relationship Id="rId4" Type="http://schemas.openxmlformats.org/officeDocument/2006/relationships/hyperlink" Target="https://docs.google.com/presentation/d/1JMsU674BD_LaOaDBQq1XPqbHV90kfjJY211snFybmtk/edit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JMsU674BD_LaOaDBQq1XPqbHV90kfjJY211snFybmtk/edit" TargetMode="External"/><Relationship Id="rId3" Type="http://schemas.openxmlformats.org/officeDocument/2006/relationships/hyperlink" Target="https://docs.google.com/presentation/d/1JMsU674BD_LaOaDBQq1XPqbHV90kfjJY211snFybmtk/edit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section sets the stage for a "killer" level up after our initial eye-opener.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Discover your unique sales-assassin alias and style by completing the quick personality assessment at the link provided.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key instruction: do not share or close your results until we prompt you at the session's end.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Challenge the idea that success is a matter of luck or being in the right place at the right time.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presentation will shift focus to the core skills that actually drive top performance.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will now specifically target the "7 + 1 core skills and traits" that define a "sales assassin."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7cd42e0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7cd42e00d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7cd42e00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7cd42e00d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7cd42e00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7cd42e00d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7cd42e00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7cd42e00d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7cd42e00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e7cd42e00d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7cd42e00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7cd42e00d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hyperlink" Target="https://oneflow.com/sales-personality/test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11" Type="http://schemas.openxmlformats.org/officeDocument/2006/relationships/image" Target="../media/image18.png"/><Relationship Id="rId10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oneflow.com/sales-generator/result/?type=leader#gf_39" TargetMode="External"/><Relationship Id="rId5" Type="http://schemas.openxmlformats.org/officeDocument/2006/relationships/hyperlink" Target="https://oneflow.com/sales-generator/result/?type=leader#gf_39" TargetMode="External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23825" y="247634"/>
            <a:ext cx="1088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HOLIDAY.COM	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80950" y="247634"/>
            <a:ext cx="38100" cy="42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93750" y="570725"/>
            <a:ext cx="115815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AFTER AN EYE-OPENER, READY FOR A </a:t>
            </a:r>
            <a:r>
              <a:rPr b="1" lang="en-US" sz="7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“KILLER”</a:t>
            </a:r>
            <a:r>
              <a:rPr b="1" lang="en-US" sz="75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 LEVEL UP?</a:t>
            </a:r>
            <a:endParaRPr b="1" sz="7500">
              <a:solidFill>
                <a:srgbClr val="D32F2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500">
              <a:solidFill>
                <a:srgbClr val="D32F2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23914" t="0"/>
          <a:stretch/>
        </p:blipFill>
        <p:spPr>
          <a:xfrm>
            <a:off x="7949575" y="1859175"/>
            <a:ext cx="3421850" cy="44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10475" y="2855625"/>
            <a:ext cx="7139100" cy="3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Discover your </a:t>
            </a:r>
            <a:r>
              <a:rPr b="1" lang="en-US" sz="1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unique strengths </a:t>
            </a:r>
            <a:r>
              <a:rPr b="1" lang="en-US" sz="1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or deadly traits</a:t>
            </a:r>
            <a:r>
              <a:rPr lang="en-US" sz="1900">
                <a:solidFill>
                  <a:srgbClr val="D32F2F"/>
                </a:solidFill>
                <a:latin typeface="Lato Light"/>
                <a:ea typeface="Lato Light"/>
                <a:cs typeface="Lato Light"/>
                <a:sym typeface="Lato Light"/>
              </a:rPr>
              <a:t>.</a:t>
            </a:r>
            <a:r>
              <a:rPr lang="en-US" sz="19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9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Complete this quick assessment to find your </a:t>
            </a:r>
            <a:r>
              <a:rPr b="1" lang="en-US" sz="1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sales</a:t>
            </a:r>
            <a:r>
              <a:rPr b="1" lang="en-US" sz="1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-assassin</a:t>
            </a:r>
            <a:r>
              <a:rPr lang="en-US" sz="19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 alias &amp; style.</a:t>
            </a:r>
            <a:endParaRPr sz="19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 not close or just minimize the results page &amp; do not tell anyone who you are until session end.</a:t>
            </a:r>
            <a:endParaRPr b="1" sz="19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Start the assessment at:</a:t>
            </a:r>
            <a:endParaRPr sz="19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https://oneflow.com/sales-personality/test/</a:t>
            </a:r>
            <a:r>
              <a:rPr lang="en-US" sz="19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9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097898" y="1118000"/>
            <a:ext cx="7996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What Makes a </a:t>
            </a:r>
            <a:r>
              <a:rPr b="1" lang="en-US" sz="60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“Successful”</a:t>
            </a:r>
            <a:r>
              <a:rPr b="1"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</a:t>
            </a:r>
            <a:endParaRPr b="1"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Salesperson?</a:t>
            </a:r>
            <a:endParaRPr b="1"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508075" y="2529137"/>
            <a:ext cx="952500" cy="477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494151" y="4439525"/>
            <a:ext cx="92037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Beyond being in the right place at the right time.</a:t>
            </a:r>
            <a:r>
              <a:rPr lang="en-US" sz="18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—</a:t>
            </a:r>
            <a:r>
              <a:rPr lang="en-US" sz="18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Who said luck has been a factor in success?</a:t>
            </a:r>
            <a:endParaRPr sz="18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Let’s target the 7 +1  core skills and traits of top </a:t>
            </a:r>
            <a:r>
              <a:rPr lang="en-US" sz="18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performers “sales assassins”</a:t>
            </a:r>
            <a:r>
              <a:rPr lang="en-US" sz="18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7370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87"/>
            <a:ext cx="52292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5072"/>
            <a:ext cx="5229225" cy="29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71550" y="3024187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OBJECTIVES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71550" y="3586150"/>
            <a:ext cx="5132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Clearly explain product benefits and features.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Listen actively to uncover true needs and concerns.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Build rapid rapport and establish trust.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772275" y="3024187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C.l.e.a.r. the smoke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72275" y="3586162"/>
            <a:ext cx="4448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</a:t>
            </a:r>
            <a:r>
              <a:rPr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Connect (Greet, Build Rapport, Establish Trust)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</a:t>
            </a:r>
            <a:r>
              <a:rPr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Listen (Active Listening)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</a:t>
            </a:r>
            <a:r>
              <a:rPr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Explain (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Explain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Directly, Easy to Understand)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 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Ask (Effective Discovery Questions)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 </a:t>
            </a:r>
            <a:r>
              <a:rPr lang="en-US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Resolve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(Strong CTA)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		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581025"/>
            <a:ext cx="1138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1.</a:t>
            </a: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 Excellent Communication</a:t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87"/>
            <a:ext cx="52292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5087"/>
            <a:ext cx="522922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71550" y="3024187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Objectives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71550" y="3586150"/>
            <a:ext cx="5505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Understand sales is tough; rejection is guaranteed.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Handle "no" with resilience.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Treat every rejection as a learning opportunity.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772275" y="3024187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We Need To S.H.A.T.T.E.R. to endure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72275" y="3586162"/>
            <a:ext cx="444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71525" y="581025"/>
            <a:ext cx="11381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2. Persistence &amp; Resilience</a:t>
            </a:r>
            <a:endParaRPr b="1" sz="3600">
              <a:solidFill>
                <a:srgbClr val="D32F2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772313" y="3512612"/>
            <a:ext cx="44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In my experience spanning a decade, I have come up with a systematic </a:t>
            </a: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way to shatter and deal with rejection. Let us dissect that in the next slide.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64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62" y="2176462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4192250" y="1258000"/>
            <a:ext cx="64155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893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S.H.A.T.T.E.R.</a:t>
            </a:r>
            <a:r>
              <a:rPr b="1" lang="en-US" sz="3893">
                <a:solidFill>
                  <a:srgbClr val="E0E0E0"/>
                </a:solidFill>
                <a:latin typeface="Bebas Neue"/>
                <a:ea typeface="Bebas Neue"/>
                <a:cs typeface="Bebas Neue"/>
                <a:sym typeface="Bebas Neue"/>
              </a:rPr>
              <a:t> Framework</a:t>
            </a:r>
            <a:endParaRPr sz="4361"/>
          </a:p>
        </p:txBody>
      </p:sp>
      <p:sp>
        <p:nvSpPr>
          <p:cNvPr id="137" name="Google Shape;137;p17"/>
          <p:cNvSpPr txBox="1"/>
          <p:nvPr/>
        </p:nvSpPr>
        <p:spPr>
          <a:xfrm>
            <a:off x="4192240" y="2413519"/>
            <a:ext cx="7856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 —</a:t>
            </a: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Strategic Mindset: View rejection as a data point in a volume game, not personal.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 — </a:t>
            </a: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Hardened Resilience: Develop the "callus" to handle "no" without losing momentum.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—</a:t>
            </a: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Analyze the Interaction: Pinpoint the source of friction (timing, budget, or trust).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 — </a:t>
            </a: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Target the Lesson: Isolate one key takeaway for the next lead.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 — </a:t>
            </a: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Transform the "No": Pivot the follow-up strategy based on feedback.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 —</a:t>
            </a: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Elevate the Approach: Sharpen your pitch using the learned insight.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 — Repeat &amp; Refine: Re-engage with a more polished approach.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62" y="2214562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71525" y="580988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SHATTER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4525" y="13672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68375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87"/>
            <a:ext cx="52292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5075"/>
            <a:ext cx="5229225" cy="341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71525" y="289275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OBJECTIVES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71525" y="3454713"/>
            <a:ext cx="5743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Understand we don't sell products; we solve problems.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Put yourself in the customer’s shoes.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Tailor solutions to specific pain points.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512075" y="280340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Play the S.L.O.T. Game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512075" y="3387249"/>
            <a:ext cx="4968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 — Solve, Not Sell: Product is a tool; solution is the goal.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 — Look Through Their Lens: Use empathy to understand their obstacles.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 — Orient to Pain: Map their struggles before proposing a solution.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 — Tailor the Hit: Customize the solution for their unique situation.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3. Empathy</a:t>
            </a:r>
            <a:endParaRPr b="1" sz="3600">
              <a:solidFill>
                <a:srgbClr val="D32F2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87"/>
            <a:ext cx="52292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05075"/>
            <a:ext cx="5229225" cy="28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771525" y="289275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OBJECTIVES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71525" y="3454725"/>
            <a:ext cx="4968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now the features, benefits, and limitations inside out.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Answer questions with total confidence.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Anticipate concerns before the customer voices them.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512075" y="280340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WE need to A.C.e. it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512075" y="3387250"/>
            <a:ext cx="5169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— Anticipate Friction: Predict objections. Seeing the "shatter" allows you to control the impact.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 — Command Details: Master features, benefits, and limitations. Total knowledge defeats customer doubt.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 — Execute with Confidence: Answer questions with precision. Authority stops customers from looking for the exit.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4. Deep Product Knowledge</a:t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87"/>
            <a:ext cx="52292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-746" l="0" r="0" t="0"/>
          <a:stretch/>
        </p:blipFill>
        <p:spPr>
          <a:xfrm>
            <a:off x="6381750" y="2605075"/>
            <a:ext cx="5229225" cy="40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771525" y="289275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OBJECTIVES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71525" y="3454725"/>
            <a:ext cx="5229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sales landscape is constantly evolving.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Adjust your approach based on the </a:t>
            </a:r>
            <a:r>
              <a:rPr b="1"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client</a:t>
            </a: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and the </a:t>
            </a:r>
            <a:r>
              <a:rPr b="1"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situation</a:t>
            </a: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Learn quickly and pivot in real-time.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512075" y="280340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Results V.a.r.y.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6573724" y="3343950"/>
            <a:ext cx="48453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 — Vigilant Observation: Constantly scan the market and client needs; don't focus on the past.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— Adaptive Maneuvering: Adjust your pitch in real-time until you find the fracture point.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 — Rapid Processing: Learn instantly from a "no" or hesitation; pivot immediately.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Y — Yield to the Facts: Accept the evolved landscape; abandon the old script and move with the new reality.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5. Adaptability</a:t>
            </a:r>
            <a:endParaRPr b="1" sz="3600">
              <a:solidFill>
                <a:srgbClr val="D32F2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87"/>
            <a:ext cx="52292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-746" l="0" r="0" t="0"/>
          <a:stretch/>
        </p:blipFill>
        <p:spPr>
          <a:xfrm>
            <a:off x="6381750" y="2605075"/>
            <a:ext cx="5229225" cy="37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71525" y="289275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OBJECTIVES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71525" y="3454725"/>
            <a:ext cx="5229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Maintain genuine enthusiasm for what you sell.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Transfer that excitement to the buyer.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Stay motivated through difficult deals.</a:t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512075" y="280340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light the F.U.S.E.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573724" y="3343950"/>
            <a:ext cx="48453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Fanatical Belief: Be genuinely sold on your solution; your enthusiasm is contagious.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Underwrite the Energy: Control the room's emotional climate; be the source of the spark.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Spark the Buyer: Transfer your excitement and conviction until the buyer sees the value.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b="1" lang="en-U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Enduring Drive: Sustain motivation throughout long, challenging deals; the grind requires constant fuel.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6. Positive Attitude</a:t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5075"/>
            <a:ext cx="5229225" cy="264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2"/>
          <p:cNvPicPr preferRelativeResize="0"/>
          <p:nvPr/>
        </p:nvPicPr>
        <p:blipFill rotWithShape="1">
          <a:blip r:embed="rId4">
            <a:alphaModFix/>
          </a:blip>
          <a:srcRect b="-746" l="0" r="0" t="0"/>
          <a:stretch/>
        </p:blipFill>
        <p:spPr>
          <a:xfrm>
            <a:off x="6381750" y="2605075"/>
            <a:ext cx="5229225" cy="37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771525" y="289275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OBJECTIVES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71525" y="3454725"/>
            <a:ext cx="4789200" cy="15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Lato"/>
              <a:buChar char="●"/>
            </a:pPr>
            <a:r>
              <a:rPr lang="en-US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Prioritize high-value activities that drive revenue.</a:t>
            </a:r>
            <a:endParaRPr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Lato"/>
              <a:buChar char="●"/>
            </a:pPr>
            <a:r>
              <a:rPr lang="en-US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Use all available tools to minimize friction and deliver quickly.</a:t>
            </a:r>
            <a:endParaRPr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400"/>
              <a:buFont typeface="Lato"/>
              <a:buChar char="●"/>
            </a:pPr>
            <a:r>
              <a:rPr lang="en-US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Dedicate specific time blocks for knowledge enrichment </a:t>
            </a:r>
            <a:endParaRPr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and follow-ups.</a:t>
            </a:r>
            <a:endParaRPr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512075" y="280340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use our E.D.G.e.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573725" y="3343950"/>
            <a:ext cx="4936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 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Extract Value: Focus only on high-stakes, revenue-driving activities; ignore the noise.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 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Deploy Arsenal: Use all available tools (CRM, automation, AI) to reduce friction and deliver fast solutions.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 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Generate Flow: Schedule "Dark Time" for dedicated, uninterrupted knowledge enrichment and skill sharpening.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 — 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force Follow-up: Maintain a disciplined schedule to ensure no lead goes cold and every detail is examined.</a:t>
            </a:r>
            <a:endParaRPr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7. Time Management</a:t>
            </a:r>
            <a:endParaRPr b="1" sz="3600">
              <a:solidFill>
                <a:srgbClr val="D32F2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81025" y="581025"/>
            <a:ext cx="47700" cy="5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297513" y="2983775"/>
            <a:ext cx="52293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100%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297525" y="4825600"/>
            <a:ext cx="522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HIT OUT ON SUCCESS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705050" y="2802375"/>
            <a:ext cx="4662300" cy="10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54">
                <a:solidFill>
                  <a:srgbClr val="E0E0E0"/>
                </a:solidFill>
                <a:latin typeface="Bebas Neue"/>
                <a:ea typeface="Bebas Neue"/>
                <a:cs typeface="Bebas Neue"/>
                <a:sym typeface="Bebas Neue"/>
              </a:rPr>
              <a:t>WE DO WHATEVER IT TAKES TO GET A</a:t>
            </a:r>
            <a:endParaRPr b="1" sz="3354">
              <a:solidFill>
                <a:srgbClr val="E0E0E0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54">
              <a:solidFill>
                <a:srgbClr val="E0E0E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771525" y="581025"/>
            <a:ext cx="622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The DNA of a Top Performer</a:t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23"/>
          <p:cNvGrpSpPr/>
          <p:nvPr/>
        </p:nvGrpSpPr>
        <p:grpSpPr>
          <a:xfrm>
            <a:off x="4926108" y="1256688"/>
            <a:ext cx="6974617" cy="4971671"/>
            <a:chOff x="1428623" y="428620"/>
            <a:chExt cx="6286837" cy="4481405"/>
          </a:xfrm>
        </p:grpSpPr>
        <p:pic>
          <p:nvPicPr>
            <p:cNvPr id="224" name="Google Shape;224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47988" y="1233488"/>
              <a:ext cx="3248100" cy="324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2000" y="428625"/>
              <a:ext cx="1895400" cy="138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167438" y="1576388"/>
              <a:ext cx="462000" cy="173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62588" y="3309938"/>
              <a:ext cx="1114500" cy="139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686175" y="4695825"/>
              <a:ext cx="1776300" cy="21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571750" y="3314700"/>
              <a:ext cx="1114500" cy="139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14600" y="1581150"/>
              <a:ext cx="457200" cy="173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038" y="804863"/>
              <a:ext cx="1600200" cy="781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2" name="Google Shape;232;p23"/>
            <p:cNvGrpSpPr/>
            <p:nvPr/>
          </p:nvGrpSpPr>
          <p:grpSpPr>
            <a:xfrm>
              <a:off x="1428623" y="428620"/>
              <a:ext cx="6286837" cy="4167142"/>
              <a:chOff x="1428623" y="428620"/>
              <a:chExt cx="6286837" cy="4167142"/>
            </a:xfrm>
          </p:grpSpPr>
          <p:sp>
            <p:nvSpPr>
              <p:cNvPr id="233" name="Google Shape;233;p23"/>
              <p:cNvSpPr txBox="1"/>
              <p:nvPr/>
            </p:nvSpPr>
            <p:spPr>
              <a:xfrm>
                <a:off x="3809849" y="428620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13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Communication</a:t>
                </a:r>
                <a:endParaRPr b="1" sz="1513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4" name="Google Shape;234;p23"/>
              <p:cNvSpPr txBox="1"/>
              <p:nvPr/>
            </p:nvSpPr>
            <p:spPr>
              <a:xfrm>
                <a:off x="5992413" y="1420719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13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Persistence</a:t>
                </a:r>
                <a:endParaRPr b="1" sz="1513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5" name="Google Shape;235;p23"/>
              <p:cNvSpPr txBox="1"/>
              <p:nvPr/>
            </p:nvSpPr>
            <p:spPr>
              <a:xfrm>
                <a:off x="6286561" y="3124594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13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Empathy</a:t>
                </a:r>
                <a:endParaRPr b="1" sz="1513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6" name="Google Shape;236;p23"/>
              <p:cNvSpPr txBox="1"/>
              <p:nvPr/>
            </p:nvSpPr>
            <p:spPr>
              <a:xfrm>
                <a:off x="4906248" y="4214762"/>
                <a:ext cx="2227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13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Product Knowledge</a:t>
                </a:r>
                <a:endParaRPr b="1" sz="1513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" name="Google Shape;237;p23"/>
              <p:cNvSpPr txBox="1"/>
              <p:nvPr/>
            </p:nvSpPr>
            <p:spPr>
              <a:xfrm>
                <a:off x="1428623" y="3095625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13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Adaptability</a:t>
                </a:r>
                <a:endParaRPr b="1" sz="1513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23"/>
              <p:cNvSpPr txBox="1"/>
              <p:nvPr/>
            </p:nvSpPr>
            <p:spPr>
              <a:xfrm>
                <a:off x="1849536" y="1362780"/>
                <a:ext cx="1428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13">
                    <a:solidFill>
                      <a:schemeClr val="lt1"/>
                    </a:solidFill>
                    <a:latin typeface="Inter"/>
                    <a:ea typeface="Inter"/>
                    <a:cs typeface="Inter"/>
                    <a:sym typeface="Inter"/>
                  </a:rPr>
                  <a:t>Positive Attitude</a:t>
                </a:r>
                <a:endParaRPr b="1" sz="1513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23"/>
              <p:cNvSpPr txBox="1"/>
              <p:nvPr/>
            </p:nvSpPr>
            <p:spPr>
              <a:xfrm>
                <a:off x="2857500" y="276225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20">
                  <a:solidFill>
                    <a:srgbClr val="FFF7ED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0" name="Google Shape;240;p23"/>
            <p:cNvSpPr/>
            <p:nvPr/>
          </p:nvSpPr>
          <p:spPr>
            <a:xfrm>
              <a:off x="3905250" y="2190750"/>
              <a:ext cx="1333500" cy="1333500"/>
            </a:xfrm>
            <a:prstGeom prst="ellipse">
              <a:avLst/>
            </a:prstGeom>
            <a:solidFill>
              <a:srgbClr val="FFF7ED"/>
            </a:solidFill>
            <a:ln cap="flat" cmpd="sng" w="21125">
              <a:solidFill>
                <a:srgbClr val="EA580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3"/>
            <p:cNvSpPr txBox="1"/>
            <p:nvPr/>
          </p:nvSpPr>
          <p:spPr>
            <a:xfrm>
              <a:off x="4000500" y="2571750"/>
              <a:ext cx="114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3">
                  <a:solidFill>
                    <a:srgbClr val="D32F2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HIT</a:t>
              </a:r>
              <a:endParaRPr b="0" sz="1553">
                <a:solidFill>
                  <a:srgbClr val="D32F2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sp>
        <p:nvSpPr>
          <p:cNvPr id="242" name="Google Shape;242;p23"/>
          <p:cNvSpPr txBox="1"/>
          <p:nvPr/>
        </p:nvSpPr>
        <p:spPr>
          <a:xfrm>
            <a:off x="5827213" y="5519375"/>
            <a:ext cx="209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7ED"/>
                </a:solidFill>
                <a:latin typeface="Inter"/>
                <a:ea typeface="Inter"/>
                <a:cs typeface="Inter"/>
                <a:sym typeface="Inter"/>
              </a:rPr>
              <a:t>Time Management</a:t>
            </a:r>
            <a:endParaRPr b="1">
              <a:solidFill>
                <a:srgbClr val="FFF7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200" y="2412312"/>
            <a:ext cx="5229225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628650" y="2929650"/>
            <a:ext cx="53301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Become an educator, not just a vendor.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Solve the problems of your "past self."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Char char="●"/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Earn authority by staying one step ahead of the journey.</a:t>
            </a:r>
            <a:endParaRPr sz="1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771525" y="581025"/>
            <a:ext cx="1138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the Secret Weapon IN your arsenal is to Become The Educator</a:t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2065000" y="3209925"/>
            <a:ext cx="87633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 man's ambition should never exceed his worth. WE would do well to remember that</a:t>
            </a:r>
            <a:endParaRPr i="1" sz="4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7178524" y="4933275"/>
            <a:ext cx="398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— </a:t>
            </a:r>
            <a:r>
              <a:rPr b="1" i="1" lang="en-US" sz="18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The Harbinger, John Wick Chapter 4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83990" y="2924175"/>
            <a:ext cx="32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“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SALES </a:t>
            </a:r>
            <a:r>
              <a:rPr b="1" lang="en-US" sz="36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ASSASSIns Have the utmost integrity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6487615" y="1497875"/>
            <a:ext cx="3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0310725" y="3777475"/>
            <a:ext cx="568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75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”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771525" y="581025"/>
            <a:ext cx="499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TIme to wake up “</a:t>
            </a:r>
            <a:r>
              <a:rPr b="1" lang="en-US" sz="3600" u="sng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tool master</a:t>
            </a:r>
            <a:r>
              <a:rPr b="1" lang="en-US"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581025" y="2614612"/>
            <a:ext cx="51906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4">
                <a:solidFill>
                  <a:srgbClr val="E0E0E0"/>
                </a:solidFill>
                <a:latin typeface="Bebas Neue"/>
                <a:ea typeface="Bebas Neue"/>
                <a:cs typeface="Bebas Neue"/>
                <a:sym typeface="Bebas Neue"/>
              </a:rPr>
              <a:t>The White-Nosed Coatimundi</a:t>
            </a:r>
            <a:endParaRPr sz="2400"/>
          </a:p>
        </p:txBody>
      </p:sp>
      <p:sp>
        <p:nvSpPr>
          <p:cNvPr id="275" name="Google Shape;275;p26"/>
          <p:cNvSpPr txBox="1"/>
          <p:nvPr/>
        </p:nvSpPr>
        <p:spPr>
          <a:xfrm>
            <a:off x="581025" y="3143000"/>
            <a:ext cx="56895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Organized number cruncher, great at quick calculations. Effective leader; uses tools like CRM and AI to advance deals. Wins through data, collaboration, and versatility. Expert at leveraging resources, using wit and calculation to close deals. 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Let's see everyone's </a:t>
            </a:r>
            <a:r>
              <a:rPr lang="en-US" sz="15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assassin aliases</a:t>
            </a:r>
            <a:r>
              <a:rPr lang="en-US">
                <a:solidFill>
                  <a:schemeClr val="lt1"/>
                </a:solidFill>
              </a:rPr>
              <a:t> so we can get to know each other better!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76" name="Google Shape;27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7488" y="738175"/>
            <a:ext cx="4962525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7"/>
          <p:cNvPicPr preferRelativeResize="0"/>
          <p:nvPr/>
        </p:nvPicPr>
        <p:blipFill rotWithShape="1">
          <a:blip r:embed="rId3">
            <a:alphaModFix/>
          </a:blip>
          <a:srcRect b="0" l="350" r="-35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305250" y="2633329"/>
            <a:ext cx="115815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ANY QUESTIONS?</a:t>
            </a:r>
            <a:br>
              <a:rPr b="1" i="0" lang="en-US" sz="10500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</a:b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502313" y="1292842"/>
            <a:ext cx="11030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Pieces of the shattered “self” are always there </a:t>
            </a: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whether</a:t>
            </a: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 put back </a:t>
            </a: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together</a:t>
            </a: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 by gold or mud, we learn to live with the imperfections and appreciate </a:t>
            </a: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its</a:t>
            </a:r>
            <a:r>
              <a:rPr lang="en-US" sz="21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 beauty.</a:t>
            </a:r>
            <a:endParaRPr>
              <a:solidFill>
                <a:srgbClr val="D32F2F"/>
              </a:solidFill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581025" y="4770983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PHILLIP.TAGARDA</a:t>
            </a:r>
            <a:r>
              <a:rPr lang="en-US" sz="1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@kape.</a:t>
            </a:r>
            <a:r>
              <a:rPr b="0" i="0" lang="en-US" sz="1800" u="none" cap="none" strike="noStrik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 </a:t>
            </a:r>
            <a:r>
              <a:rPr b="0" i="0" lang="en-US" sz="1800" u="none" cap="none" strike="noStrike">
                <a:solidFill>
                  <a:srgbClr val="555555"/>
                </a:solidFill>
                <a:latin typeface="Bebas Neue"/>
                <a:ea typeface="Bebas Neue"/>
                <a:cs typeface="Bebas Neue"/>
                <a:sym typeface="Bebas Neue"/>
              </a:rPr>
              <a:t>| </a:t>
            </a:r>
            <a:r>
              <a:rPr b="0" i="0" lang="en-US" sz="1800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#</a:t>
            </a:r>
            <a:r>
              <a:rPr lang="en-US" sz="1800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7deadlytraitsofasalesassasin</a:t>
            </a:r>
            <a:endParaRPr>
              <a:solidFill>
                <a:srgbClr val="D32F2F"/>
              </a:solidFill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2277675" y="4906800"/>
            <a:ext cx="7636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Thank you!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87" name="Google Shape;2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8175" y="22523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/>
          <p:nvPr/>
        </p:nvSpPr>
        <p:spPr>
          <a:xfrm>
            <a:off x="344938" y="629503"/>
            <a:ext cx="1103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“Wabi-sabi, a Japanese philosophy, involves restoring broken objects and enhancing their value by embracing the inherent beauty of imperfection.”</a:t>
            </a:r>
            <a:endParaRPr i="1"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91300" y="93725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32F2F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09700"/>
            <a:ext cx="1102995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8"/>
          <p:cNvSpPr txBox="1"/>
          <p:nvPr/>
        </p:nvSpPr>
        <p:spPr>
          <a:xfrm>
            <a:off x="581025" y="450056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Audience engagement remains highest when the "Shatter Noir" aesthetic is applied consistently across all story beats.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GENRE RESONANCE ANALYSIS</a:t>
            </a:r>
            <a:endParaRPr/>
          </a:p>
        </p:txBody>
      </p:sp>
      <p:sp>
        <p:nvSpPr>
          <p:cNvPr id="298" name="Google Shape;298;p28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28975"/>
            <a:ext cx="2426493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3228975"/>
            <a:ext cx="2426493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563" y="3228975"/>
            <a:ext cx="2426493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4332" y="3228975"/>
            <a:ext cx="2426493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581025" y="3843337"/>
            <a:ext cx="11029950" cy="1905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620375" y="3324225"/>
            <a:ext cx="2347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CONCEPT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676275" y="3733800"/>
            <a:ext cx="22359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Drafting the core noir narrative and "Shatter" themes.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488144" y="3324225"/>
            <a:ext cx="2347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FRACTURE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3544044" y="3733800"/>
            <a:ext cx="22359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Developing the visual motifs of broken glass and voids.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6355913" y="3324225"/>
            <a:ext cx="2347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CONTRAST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6411813" y="3733800"/>
            <a:ext cx="22359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Finalizing the crimson-on-black color strategy.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9223682" y="3324225"/>
            <a:ext cx="2347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IMPACT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9279582" y="3733800"/>
            <a:ext cx="22359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Global launch and style guide dissemination.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771525" y="5810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32F2F"/>
                </a:solidFill>
                <a:latin typeface="Bebas Neue"/>
                <a:ea typeface="Bebas Neue"/>
                <a:cs typeface="Bebas Neue"/>
                <a:sym typeface="Bebas Neue"/>
              </a:rPr>
              <a:t>PROJECT EVOLUTION</a:t>
            </a:r>
            <a:endParaRPr/>
          </a:p>
        </p:txBody>
      </p:sp>
      <p:sp>
        <p:nvSpPr>
          <p:cNvPr id="318" name="Google Shape;318;p29"/>
          <p:cNvSpPr/>
          <p:nvPr/>
        </p:nvSpPr>
        <p:spPr>
          <a:xfrm>
            <a:off x="581025" y="581025"/>
            <a:ext cx="47625" cy="542925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