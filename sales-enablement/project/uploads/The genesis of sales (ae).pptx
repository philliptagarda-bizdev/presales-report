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Roboto Light"/>
      <p:regular r:id="rId19"/>
      <p:bold r:id="rId20"/>
      <p:italic r:id="rId21"/>
      <p:boldItalic r:id="rId22"/>
    </p:embeddedFont>
    <p:embeddedFont>
      <p:font typeface="Oswald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Light-bold.fntdata"/><Relationship Id="rId11" Type="http://schemas.openxmlformats.org/officeDocument/2006/relationships/slide" Target="slides/slide6.xml"/><Relationship Id="rId22" Type="http://schemas.openxmlformats.org/officeDocument/2006/relationships/font" Target="fonts/RobotoLight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Light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B7L84Dn6axanaBPlL_CrPRGCmbW0Dl51P04ywz3CzlQ/edit" TargetMode="External"/><Relationship Id="rId3" Type="http://schemas.openxmlformats.org/officeDocument/2006/relationships/hyperlink" Target="https://docs.google.com/presentation/d/1B7L84Dn6axanaBPlL_CrPRGCmbW0Dl51P04ywz3CzlQ/edit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B7L84Dn6axanaBPlL_CrPRGCmbW0Dl51P04ywz3CzlQ/edit" TargetMode="External"/><Relationship Id="rId3" Type="http://schemas.openxmlformats.org/officeDocument/2006/relationships/hyperlink" Target="https://docs.google.com/presentation/d/1B7L84Dn6axanaBPlL_CrPRGCmbW0Dl51P04ywz3CzlQ/edit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B7L84Dn6axanaBPlL_CrPRGCmbW0Dl51P04ywz3CzlQ/edit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B7L84Dn6axanaBPlL_CrPRGCmbW0Dl51P04ywz3CzlQ/edit" TargetMode="External"/><Relationship Id="rId3" Type="http://schemas.openxmlformats.org/officeDocument/2006/relationships/hyperlink" Target="https://docs.google.com/presentation/d/1B7L84Dn6axanaBPlL_CrPRGCmbW0Dl51P04ywz3CzlQ/edit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B7L84Dn6axanaBPlL_CrPRGCmbW0Dl51P04ywz3CzlQ/edit" TargetMode="External"/><Relationship Id="rId3" Type="http://schemas.openxmlformats.org/officeDocument/2006/relationships/hyperlink" Target="https://docs.google.com/presentation/d/1B7L84Dn6axanaBPlL_CrPRGCmbW0Dl51P04ywz3CzlQ/edit" TargetMode="External"/><Relationship Id="rId4" Type="http://schemas.openxmlformats.org/officeDocument/2006/relationships/hyperlink" Target="https://docs.google.com/presentation/d/1B7L84Dn6axanaBPlL_CrPRGCmbW0Dl51P04ywz3CzlQ/edit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B7L84Dn6axanaBPlL_CrPRGCmbW0Dl51P04ywz3CzlQ/edit" TargetMode="External"/><Relationship Id="rId3" Type="http://schemas.openxmlformats.org/officeDocument/2006/relationships/hyperlink" Target="https://docs.google.com/presentation/d/1B7L84Dn6axanaBPlL_CrPRGCmbW0Dl51P04ywz3CzlQ/edit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f7979fdae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f7979fdae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Establish the session's foundation before exploring deep-rooted sales psychology.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will fearlessly trace persuasion's evolution from ancient narratives to AI environments.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Great business achievements are always done by a team of people, not one individual.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f7979fdae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f7979fdae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Sales is the art and science of human persuasion and value exchange.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It involves enabling a transformation from the current state to a desired future.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Every interaction is a psychological bridge between a problem and a solution.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f7979fda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f7979fda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Sales is the art and science of human persuasion and value exchange.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It involves identifying a need and reframing perspectives to a desired future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f7979fd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f7979fd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f55745dd6_1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f55745dd6_1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Biblical references are not meant to attack or degrade any religious groups or beliefs.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use these references from an agnostic viewpoint, focusing on narrative facts from ancient text.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goal is to explore the deep psychological dynamics of the first recorded sales transaction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f55745dd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f55745dd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pitch identified the "Pain Point" by showing the gap between current and potential.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Objection Handling reframed the perceived "risk" of the transaction as an opportunity.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Value Proposition focused on the ROI of transformation over the cost of the transaction.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f55745dd6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f55745dd6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Apple represents the solution, promising a "New Better"—a bridge to a desired state of being.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Serpent is the consultant, acting as the catalyst to move a prospect from "Status Quo" to "Action" via narrative.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Result of the exchange demonstrates that value is subjective, as Eve traded security for a perceived upgrade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f55745dd6_0_8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f55745dd6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Sales is a deeply-rooted human psychological encounter, moving beyond just economic activity.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It requires painting a vision so compelling that the prospect is willing to cross a feared threshold.</a:t>
            </a:r>
            <a:r>
              <a:rPr lang="en" sz="700">
                <a:solidFill>
                  <a:srgbClr val="1F1F1F"/>
                </a:solidFill>
                <a:highlight>
                  <a:srgbClr val="F0F4F9"/>
                </a:highlight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</a:t>
            </a:r>
            <a:endParaRPr sz="700">
              <a:solidFill>
                <a:srgbClr val="1F1F1F"/>
              </a:solidFill>
              <a:highlight>
                <a:srgbClr val="F0F4F9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While tools change, the essential psychology of closing a sale remains eternal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f55745dd6_0_1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f55745dd6_0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Thank the audience and reinforce the session's core purpose.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first recorded 'close' is history, but their next sale defines their future.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52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50"/>
              <a:buFont typeface="Roboto"/>
              <a:buChar char="●"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Inspire the audience to use today's insights to cross their next threshold.</a:t>
            </a:r>
            <a:endParaRPr sz="105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f55745dd6_6_0)">
  <p:cSld name="Generated (g3df55745dd6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571500" y="762000"/>
            <a:ext cx="3657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Opening the </a:t>
            </a:r>
            <a: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ession</a:t>
            </a:r>
            <a:endParaRPr b="0" sz="1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571500" y="1047750"/>
            <a:ext cx="39561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6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INTRODUCTION</a:t>
            </a:r>
            <a:endParaRPr b="1" sz="496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571500" y="2190750"/>
            <a:ext cx="3657600" cy="238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Before we dive into the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deep-rooted psychological dynamics of sales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, let's establish our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foundation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b="0" sz="1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This session is designed to fear</a:t>
            </a:r>
            <a: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lessly 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explore the evolution of persuasion—from ancient narratives to modern AI-first environments.</a:t>
            </a:r>
            <a:endParaRPr b="0" sz="1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"Great things in business are never done by one person. They're done by a team of people."</a:t>
            </a:r>
            <a:endParaRPr b="0" sz="1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26727" r="27247" t="0"/>
          <a:stretch/>
        </p:blipFill>
        <p:spPr>
          <a:xfrm>
            <a:off x="4873550" y="373675"/>
            <a:ext cx="3698650" cy="45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0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571500" y="666750"/>
            <a:ext cx="80010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WHAT IS</a:t>
            </a:r>
            <a:endParaRPr sz="11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$ALES?</a:t>
            </a:r>
            <a:endParaRPr b="1" sz="110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65" name="Google Shape;65;p15"/>
          <p:cNvPicPr preferRelativeResize="0"/>
          <p:nvPr/>
        </p:nvPicPr>
        <p:blipFill rotWithShape="1">
          <a:blip r:embed="rId3">
            <a:alphaModFix/>
          </a:blip>
          <a:srcRect b="0" l="23968" r="25361" t="0"/>
          <a:stretch/>
        </p:blipFill>
        <p:spPr>
          <a:xfrm>
            <a:off x="5090425" y="514350"/>
            <a:ext cx="3706725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 txBox="1"/>
          <p:nvPr/>
        </p:nvSpPr>
        <p:spPr>
          <a:xfrm>
            <a:off x="0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4357696" y="298063"/>
            <a:ext cx="4404900" cy="33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72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Defining the discipline</a:t>
            </a:r>
            <a:endParaRPr b="0" sz="1272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4357696" y="628445"/>
            <a:ext cx="4228800" cy="132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1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WHAT REALLY IS SALES?</a:t>
            </a:r>
            <a:endParaRPr b="1" sz="4301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4357696" y="2060097"/>
            <a:ext cx="4228800" cy="308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87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Sales is not just a transaction; it is the art and science of </a:t>
            </a:r>
            <a:r>
              <a:rPr b="1" lang="en" sz="138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human persuasion</a:t>
            </a:r>
            <a:r>
              <a:rPr b="0" lang="en" sz="1387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and the </a:t>
            </a:r>
            <a:r>
              <a:rPr b="1" lang="en" sz="138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exchange of value.</a:t>
            </a:r>
            <a:endParaRPr b="1" sz="1387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301"/>
              </a:spcBef>
              <a:spcAft>
                <a:spcPts val="0"/>
              </a:spcAft>
              <a:buNone/>
            </a:pPr>
            <a:r>
              <a:rPr b="0" lang="en" sz="1387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It is about identifying a need, reframing perspectives, and enabling a transformation from a </a:t>
            </a:r>
            <a:r>
              <a:rPr b="1" lang="en" sz="138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current state</a:t>
            </a:r>
            <a:r>
              <a:rPr b="0" lang="en" sz="1387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to a </a:t>
            </a:r>
            <a:r>
              <a:rPr b="1" lang="en" sz="138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desired future.</a:t>
            </a:r>
            <a:endParaRPr b="1" sz="1387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301"/>
              </a:spcBef>
              <a:spcAft>
                <a:spcPts val="0"/>
              </a:spcAft>
              <a:buNone/>
            </a:pPr>
            <a:r>
              <a:rPr b="1" lang="en" sz="1387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"At its core, every sales interaction is a psychological bridge between a problem and a solution, built on trust and strategic communication.</a:t>
            </a:r>
            <a:r>
              <a:rPr b="0" lang="en" sz="1387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"</a:t>
            </a:r>
            <a:endParaRPr b="0" sz="1387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0" l="27591" r="25123" t="0"/>
          <a:stretch/>
        </p:blipFill>
        <p:spPr>
          <a:xfrm>
            <a:off x="232625" y="250325"/>
            <a:ext cx="3903026" cy="464284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0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571500" y="762000"/>
            <a:ext cx="3657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Perspective &amp; agnostic intent</a:t>
            </a:r>
            <a:endParaRPr b="0" sz="1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571500" y="1047750"/>
            <a:ext cx="36576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5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DISCLAIMER</a:t>
            </a:r>
            <a:endParaRPr b="1" sz="465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571500" y="2000250"/>
            <a:ext cx="36576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Biblical </a:t>
            </a:r>
            <a: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references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used here are not intended to attack or degrade any religious groups, cultures, or beliefs.</a:t>
            </a:r>
            <a:endParaRPr b="0" sz="14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From an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agnostic viewpoint</a:t>
            </a:r>
            <a:r>
              <a:rPr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,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these references serve as a fearless anchoring of glaring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narrative facts found within the a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ncient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written text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that existed for millennia. </a:t>
            </a:r>
            <a:b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b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“T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 explore deep-rooted psychological dynamics of the human mind and the first recorded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sales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transaction.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b="1"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24058" r="20201" t="0"/>
          <a:stretch/>
        </p:blipFill>
        <p:spPr>
          <a:xfrm>
            <a:off x="4529850" y="451900"/>
            <a:ext cx="3967275" cy="40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0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4682700" y="433625"/>
            <a:ext cx="4096500" cy="32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32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The masterclass in persuasion</a:t>
            </a:r>
            <a:endParaRPr b="0" sz="1232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4682700" y="753654"/>
            <a:ext cx="4096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66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THE FIRST "CLOSE"</a:t>
            </a:r>
            <a:endParaRPr b="1" sz="4166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682700" y="1509487"/>
            <a:ext cx="40965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While historians look to Mesopotamian markets, the silk road</a:t>
            </a:r>
            <a:r>
              <a:rPr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, and so on… T</a:t>
            </a: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he true </a:t>
            </a:r>
            <a:r>
              <a:rPr b="1" lang="en" sz="145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black and white</a:t>
            </a: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origin of sales traces back to a </a:t>
            </a:r>
            <a:r>
              <a:rPr b="1" lang="en" sz="145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garden</a:t>
            </a: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and a </a:t>
            </a:r>
            <a:r>
              <a:rPr b="1" lang="en" sz="145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masterclass in persuasion</a:t>
            </a: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b="0" sz="1456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680"/>
              </a:spcBef>
              <a:spcAft>
                <a:spcPts val="0"/>
              </a:spcAft>
              <a:buNone/>
            </a:pPr>
            <a:r>
              <a:rPr b="1" lang="en" sz="145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Setting:</a:t>
            </a: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The Garden of Eden</a:t>
            </a:r>
            <a:endParaRPr b="0" sz="1456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1" lang="en" sz="145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Salesperson:</a:t>
            </a: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The Serpent</a:t>
            </a:r>
            <a:endParaRPr b="0" sz="1456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1" lang="en" sz="145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Prospect:</a:t>
            </a: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Eve</a:t>
            </a:r>
            <a:endParaRPr b="0" sz="1456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08"/>
              </a:spcBef>
              <a:spcAft>
                <a:spcPts val="0"/>
              </a:spcAft>
              <a:buNone/>
            </a:pPr>
            <a:r>
              <a:rPr b="1" lang="en" sz="1456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Product:</a:t>
            </a:r>
            <a:r>
              <a:rPr b="0" lang="en" sz="1456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The Apple (Knowledge)</a:t>
            </a:r>
            <a:endParaRPr b="0" sz="1456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2520"/>
              </a:spcBef>
              <a:spcAft>
                <a:spcPts val="0"/>
              </a:spcAft>
              <a:buNone/>
            </a:pPr>
            <a:r>
              <a:rPr b="1" lang="en" sz="143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“The first closed-won </a:t>
            </a:r>
            <a:r>
              <a:rPr b="1" lang="en" sz="1432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happened in the Garden of Eden, when the serpent pitched the world to Eve.”</a:t>
            </a:r>
            <a:endParaRPr b="1" sz="1432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27318" r="25565" t="0"/>
          <a:stretch/>
        </p:blipFill>
        <p:spPr>
          <a:xfrm>
            <a:off x="370650" y="271800"/>
            <a:ext cx="3871100" cy="459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7824125" y="4385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697575" y="381088"/>
            <a:ext cx="4156500" cy="32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64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The anatomy of the first pitch</a:t>
            </a:r>
            <a:endParaRPr b="0" sz="1364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697575" y="705803"/>
            <a:ext cx="4156500" cy="129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5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ANATOMY OF THE ORIGINAL PITCH</a:t>
            </a:r>
            <a:endParaRPr b="1" sz="425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697575" y="2112906"/>
            <a:ext cx="4156500" cy="303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5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The Serpent utilized </a:t>
            </a:r>
            <a:r>
              <a:rPr b="1"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core principles</a:t>
            </a:r>
            <a:r>
              <a:rPr b="0" lang="en" sz="125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that drive modern sales funnels:</a:t>
            </a:r>
            <a:endParaRPr b="0" sz="125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364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Identifying the "Pain Point":</a:t>
            </a:r>
            <a:r>
              <a:rPr b="0" lang="en" sz="125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Gap between where Eve was and where she could be.</a:t>
            </a:r>
            <a:endParaRPr b="0" sz="125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909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Reframing the Objection:</a:t>
            </a:r>
            <a:r>
              <a:rPr b="0" lang="en" sz="125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Serpent used Objection Handling to reframe "risk" as opportunity.</a:t>
            </a:r>
            <a:endParaRPr b="0" sz="125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909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Value Proposition:</a:t>
            </a:r>
            <a:r>
              <a:rPr b="0" lang="en" sz="125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Focus on ROI of transformation over cost of transaction.</a:t>
            </a:r>
            <a:endParaRPr b="0" sz="125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909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Creating Urgency:</a:t>
            </a:r>
            <a:r>
              <a:rPr b="0" lang="en" sz="125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Triggered the first recorded instance of FOMO.</a:t>
            </a:r>
            <a:endParaRPr b="0" sz="125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25035" r="24663" t="0"/>
          <a:stretch/>
        </p:blipFill>
        <p:spPr>
          <a:xfrm>
            <a:off x="5033975" y="481138"/>
            <a:ext cx="3739075" cy="4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7902875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4609000" y="378400"/>
            <a:ext cx="4182300" cy="32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58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Sales core principles</a:t>
            </a:r>
            <a:endParaRPr b="0" sz="1258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08" name="Google Shape;108;p20"/>
          <p:cNvSpPr txBox="1"/>
          <p:nvPr/>
        </p:nvSpPr>
        <p:spPr>
          <a:xfrm>
            <a:off x="4609000" y="705125"/>
            <a:ext cx="4182300" cy="130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5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FROM EDEN TO BOARDROOMS</a:t>
            </a:r>
            <a:endParaRPr b="1" sz="425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4609000" y="2338749"/>
            <a:ext cx="4182300" cy="250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To understand sales is to understand the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Apple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and the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Serpent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as metaphors for the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buyer-seller dynamic:</a:t>
            </a:r>
            <a:endParaRPr b="1" sz="1163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86"/>
              </a:spcBef>
              <a:spcAft>
                <a:spcPts val="0"/>
              </a:spcAft>
              <a:buNone/>
            </a:pP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1. The Apple (The Solution):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b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Every product is an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"Apple." 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It represents the promise of a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"New Better"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—a bridge to a desired state of being.</a:t>
            </a:r>
            <a:endParaRPr b="0" sz="1163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29"/>
              </a:spcBef>
              <a:spcAft>
                <a:spcPts val="0"/>
              </a:spcAft>
              <a:buNone/>
            </a:pP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2. The Serpent (The Consultant):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b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Represents the Catalyst. Moving a prospect from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"Status Quo" 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to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"Action" 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through narrative.</a:t>
            </a:r>
            <a:endParaRPr b="0" sz="1163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029"/>
              </a:spcBef>
              <a:spcAft>
                <a:spcPts val="0"/>
              </a:spcAft>
              <a:buNone/>
            </a:pP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3. The Result (The Exchange):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b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</a:b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Eve traded security for an upgrade.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This highlights that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alue is subjective—therefore, </a:t>
            </a:r>
            <a:r>
              <a:rPr b="1" lang="en" sz="116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perceived</a:t>
            </a:r>
            <a:r>
              <a:rPr b="0" lang="en" sz="116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b="0" sz="1163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24028" r="24455" t="0"/>
          <a:stretch/>
        </p:blipFill>
        <p:spPr>
          <a:xfrm>
            <a:off x="502675" y="518450"/>
            <a:ext cx="3778575" cy="410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0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/>
        </p:nvSpPr>
        <p:spPr>
          <a:xfrm>
            <a:off x="571500" y="530275"/>
            <a:ext cx="4114800" cy="3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Closing thought about the fall</a:t>
            </a:r>
            <a:endParaRPr b="0" sz="12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571500" y="800100"/>
            <a:ext cx="41148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6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ETERNAL PSYCHOLOGY</a:t>
            </a:r>
            <a:endParaRPr b="1" sz="336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571500" y="1714500"/>
            <a:ext cx="36576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Eve’s encounter with the serpent and the fruit, in the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Garden of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Eden 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teaches us that sales is not merely an economic activity; it is a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deeply-rooted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human psychological encounter.</a:t>
            </a:r>
            <a:endParaRPr b="1"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It is the process of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painting a vision so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compelling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that the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prospect</a:t>
            </a:r>
            <a:r>
              <a:rPr b="0" lang="en" sz="14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is willing to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cross a threshold they previously feared.</a:t>
            </a:r>
            <a:endParaRPr b="1"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“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The tools have changed since the beginning of time, but the essential psychology of closing a sale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remains eternal.</a:t>
            </a:r>
            <a:r>
              <a:rPr b="1"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”</a:t>
            </a:r>
            <a:endParaRPr b="1" sz="1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 rotWithShape="1">
          <a:blip r:embed="rId3">
            <a:alphaModFix/>
          </a:blip>
          <a:srcRect b="0" l="27695" r="22815" t="0"/>
          <a:stretch/>
        </p:blipFill>
        <p:spPr>
          <a:xfrm>
            <a:off x="4859225" y="437637"/>
            <a:ext cx="3768425" cy="426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/>
          <p:nvPr/>
        </p:nvSpPr>
        <p:spPr>
          <a:xfrm>
            <a:off x="0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4109750" y="404925"/>
            <a:ext cx="4500600" cy="46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23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The journey ahead</a:t>
            </a:r>
            <a:endParaRPr b="0" sz="1723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4109750" y="873741"/>
            <a:ext cx="4500600" cy="117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383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  <a:endParaRPr b="1" sz="7383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4109750" y="2045780"/>
            <a:ext cx="4500600" cy="281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The 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first close </a:t>
            </a: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redefined our 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history</a:t>
            </a: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, but your 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close</a:t>
            </a: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defines your 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future</a:t>
            </a: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b="0"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846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May </a:t>
            </a: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today’s introduction and mind session</a:t>
            </a:r>
            <a:r>
              <a:rPr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fuel our </a:t>
            </a: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visions of a 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future</a:t>
            </a: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worth </a:t>
            </a: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crossing</a:t>
            </a:r>
            <a:r>
              <a:rPr b="0"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 the threshold for.</a:t>
            </a:r>
            <a:endParaRPr b="0"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1846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—phillip.tagarda@kape.com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" name="Google Shape;128;p22"/>
          <p:cNvPicPr preferRelativeResize="0"/>
          <p:nvPr/>
        </p:nvPicPr>
        <p:blipFill rotWithShape="1">
          <a:blip r:embed="rId3">
            <a:alphaModFix/>
          </a:blip>
          <a:srcRect b="0" l="23910" r="21984" t="0"/>
          <a:stretch/>
        </p:blipFill>
        <p:spPr>
          <a:xfrm>
            <a:off x="154550" y="478600"/>
            <a:ext cx="3829150" cy="398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0" y="0"/>
            <a:ext cx="1398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holiday.com</a:t>
            </a:r>
            <a:endParaRPr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